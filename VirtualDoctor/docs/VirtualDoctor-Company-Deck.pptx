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Konsultasi</c:v>
                </c:pt>
              </c:strCache>
            </c:strRef>
          </c:tx>
          <c:spPr>
            <a:solidFill>
              <a:srgbClr val="1B4F63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Mei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145</c:v>
                </c:pt>
                <c:pt idx="2">
                  <c:v>138</c:v>
                </c:pt>
                <c:pt idx="3">
                  <c:v>170</c:v>
                </c:pt>
                <c:pt idx="4">
                  <c:v>192</c:v>
                </c:pt>
                <c:pt idx="5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08-416C-9234-3A30ECEC23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8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8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8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35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9.png"/><Relationship Id="rId4" Type="http://schemas.openxmlformats.org/officeDocument/2006/relationships/image" Target="../media/image7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-1051560"/>
            <a:ext cx="4937760" cy="4937760"/>
          </a:xfrm>
          <a:prstGeom prst="ellipse">
            <a:avLst/>
          </a:prstGeom>
          <a:solidFill>
            <a:srgbClr val="0B1D2A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-228600"/>
            <a:ext cx="3291840" cy="3291840"/>
          </a:xfrm>
          <a:prstGeom prst="ellipse">
            <a:avLst/>
          </a:prstGeom>
          <a:solidFill>
            <a:srgbClr val="1B4F63">
              <a:alpha val="75000"/>
            </a:srgbClr>
          </a:solidFill>
          <a:ln w="6350">
            <a:solidFill>
              <a:srgbClr val="256A8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74920" y="2880360"/>
            <a:ext cx="2286000" cy="2286000"/>
          </a:xfrm>
          <a:prstGeom prst="ellipse">
            <a:avLst/>
          </a:prstGeom>
          <a:solidFill>
            <a:srgbClr val="2F7D73">
              <a:alpha val="45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51560"/>
            <a:ext cx="1005840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88720"/>
            <a:ext cx="50292" cy="237744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1704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KESEHATAN DIGITAL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57276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VirtualDoctor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502920" y="267004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platform untuk konsultasi dokter, farmasi, homecare, booking fasilitas kesehatan, dan asisten kesehatan berbasis AI.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02920" y="3767328"/>
            <a:ext cx="2192731" cy="329184"/>
          </a:xfrm>
          <a:prstGeom prst="rect">
            <a:avLst/>
          </a:prstGeom>
          <a:solidFill>
            <a:srgbClr val="132B3D"/>
          </a:solidFill>
          <a:ln w="9525">
            <a:solidFill>
              <a:srgbClr val="256A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767328"/>
            <a:ext cx="21927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Blazor Server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41955" y="3767328"/>
            <a:ext cx="1386230" cy="329184"/>
          </a:xfrm>
          <a:prstGeom prst="rect">
            <a:avLst/>
          </a:prstGeom>
          <a:solidFill>
            <a:srgbClr val="132B3D"/>
          </a:solidFill>
          <a:ln w="9525">
            <a:solidFill>
              <a:srgbClr val="256A8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41955" y="3767328"/>
            <a:ext cx="13862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Multi-LLM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74490" y="3767328"/>
            <a:ext cx="1834286" cy="329184"/>
          </a:xfrm>
          <a:prstGeom prst="rect">
            <a:avLst/>
          </a:prstGeom>
          <a:solidFill>
            <a:srgbClr val="132B3D"/>
          </a:solidFill>
          <a:ln w="9525">
            <a:solidFill>
              <a:srgbClr val="256A8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4490" y="3767328"/>
            <a:ext cx="18342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Dokumen Medis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4498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GraviCode Studios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83480" y="4498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Doctor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80467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6576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4088" y="603504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Layanan kesehatan masih terpisah-pisah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04088" y="11155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Pasien berpindah antar aplikasi, antar loket, dan antar sumber informasi hanya untuk satu keluhan.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3886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36192"/>
            <a:ext cx="50292" cy="138988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792224"/>
            <a:ext cx="457200" cy="457200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1915668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44168" y="18105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tidak merata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58952" y="2249424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spesialis menumpuk di kota besar, sementara pasien daerah kehabisan pilihan.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09160" y="1536192"/>
            <a:ext cx="3886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536192"/>
            <a:ext cx="50292" cy="138988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4" name="Shape 11"/>
          <p:cNvSpPr/>
          <p:nvPr/>
        </p:nvSpPr>
        <p:spPr>
          <a:xfrm>
            <a:off x="4965192" y="1792224"/>
            <a:ext cx="457200" cy="457200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636" y="1915668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50408" y="18105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Antrean dan jadwal manual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965192" y="2249424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lewat telepon, jadwal dokter berubah, estimasi biaya tidak transparan.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3182112"/>
            <a:ext cx="3886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" y="3182112"/>
            <a:ext cx="50292" cy="138988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0" name="Shape 16"/>
          <p:cNvSpPr/>
          <p:nvPr/>
        </p:nvSpPr>
        <p:spPr>
          <a:xfrm>
            <a:off x="758952" y="3438144"/>
            <a:ext cx="457200" cy="457200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3561588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44168" y="34564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tidak terverifikasi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58952" y="3895344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Pasien mencari jawaban di mesin pencari dan menerima informasi tanpa dasar medis.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709160" y="3182112"/>
            <a:ext cx="388620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3182112"/>
            <a:ext cx="50292" cy="138988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6" name="Shape 21"/>
          <p:cNvSpPr/>
          <p:nvPr/>
        </p:nvSpPr>
        <p:spPr>
          <a:xfrm>
            <a:off x="4965192" y="3438144"/>
            <a:ext cx="457200" cy="457200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8636" y="3561588"/>
            <a:ext cx="210312" cy="2103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50408" y="34564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pasien tercerai-berai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4965192" y="3895344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konsultasi, resep, dan pemeriksaan tersimpan di sistem yang tidak saling bicara.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02920" y="4718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VirtualDoctor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543800" y="47183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1188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657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4088" y="603504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 aplikasi, seluruh</a:t>
            </a:r>
            <a:endParaRPr lang="en-US" sz="26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perjalanan pasien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04088" y="187452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VirtualDoctor menyatukan konsultasi, pembelian obat, layanan ke rumah, dan booking fasilitas kesehatan dalam satu alur — dengan asisten AI yang menjawab 24 jam dan tetap merujuk pasien ke dokter sungguhan saat dibutuhkan.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4088" y="3584448"/>
            <a:ext cx="3703320" cy="786384"/>
          </a:xfrm>
          <a:prstGeom prst="rect">
            <a:avLst/>
          </a:prstGeom>
          <a:solidFill>
            <a:srgbClr val="1B4F63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3584448"/>
            <a:ext cx="3337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Dibangun di atas .NET 10 — siap dipasang di cloud maupun server internal rumah sakit.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261872"/>
            <a:ext cx="566928" cy="566928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111" y="1414943"/>
            <a:ext cx="260787" cy="260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23560" y="1280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Konsultasi tanpa batas jarak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23560" y="1536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real-time dengan dokter umum, spesialis, dan psikolog.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92040" y="2121408"/>
            <a:ext cx="566928" cy="566928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111" y="2274479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21396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 AI yang selalu siaga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23560" y="2395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Menjawab keluhan ringan, memberi tips, dan mengarahkan ke layanan yang tepat.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92040" y="2980944"/>
            <a:ext cx="566928" cy="566928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5111" y="3134015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23560" y="2999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sampai ke rumah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623560" y="3255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Obat, tes lab, vaksinasi, perawat, hingga kunjungan dokter.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92040" y="3840480"/>
            <a:ext cx="566928" cy="566928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5111" y="399355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8587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Kendali penuh bagi manajemen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2356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laporan, dan ekspor data untuk pengambilan keputusan.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02920" y="4718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VirtualDoctor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543800" y="47183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80467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6576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LAYANAN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4088" y="603504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Sembilan layanan dalam satu platform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98448"/>
            <a:ext cx="50292" cy="100584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72184"/>
            <a:ext cx="347472" cy="347472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17" y="1566001"/>
            <a:ext cx="159837" cy="1598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4712" y="145389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Konsultasi Dokter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telepon, dan video call siap WebRTC.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298448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298448"/>
            <a:ext cx="50292" cy="100584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3" name="Shape 10"/>
          <p:cNvSpPr/>
          <p:nvPr/>
        </p:nvSpPr>
        <p:spPr>
          <a:xfrm>
            <a:off x="3429000" y="1472184"/>
            <a:ext cx="347472" cy="347472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817" y="1566001"/>
            <a:ext cx="159837" cy="15983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67912" y="145389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24/7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290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 kesehatan multi-LLM dengan 11 alat bantu.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989320" y="1298448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89320" y="1298448"/>
            <a:ext cx="50292" cy="100584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9" name="Shape 15"/>
          <p:cNvSpPr/>
          <p:nvPr/>
        </p:nvSpPr>
        <p:spPr>
          <a:xfrm>
            <a:off x="6172200" y="1472184"/>
            <a:ext cx="347472" cy="347472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6017" y="1566001"/>
            <a:ext cx="159837" cy="1598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11112" y="145389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Farmasi Digital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1722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obat, keranjang, apotek terdekat, kurir.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02920" y="2478024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" y="2478024"/>
            <a:ext cx="50292" cy="100584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5" name="Shape 20"/>
          <p:cNvSpPr/>
          <p:nvPr/>
        </p:nvSpPr>
        <p:spPr>
          <a:xfrm>
            <a:off x="685800" y="2651760"/>
            <a:ext cx="347472" cy="347472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617" y="2745577"/>
            <a:ext cx="159837" cy="15983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24712" y="26334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Homecare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85800" y="3054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lab, vaksinasi, perawat, dan dokter ke rumah.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46120" y="2478024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46120" y="2478024"/>
            <a:ext cx="50292" cy="100584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1" name="Shape 25"/>
          <p:cNvSpPr/>
          <p:nvPr/>
        </p:nvSpPr>
        <p:spPr>
          <a:xfrm>
            <a:off x="3429000" y="2651760"/>
            <a:ext cx="347472" cy="347472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2817" y="2745577"/>
            <a:ext cx="159837" cy="15983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67912" y="26334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RS &amp; Klinik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429000" y="3054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Janji temu online atau tatap muka dengan estimasi biaya.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5989320" y="2478024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5989320" y="2478024"/>
            <a:ext cx="50292" cy="100584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7" name="Shape 30"/>
          <p:cNvSpPr/>
          <p:nvPr/>
        </p:nvSpPr>
        <p:spPr>
          <a:xfrm>
            <a:off x="6172200" y="2651760"/>
            <a:ext cx="347472" cy="347472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6017" y="2745577"/>
            <a:ext cx="159837" cy="15983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11112" y="263347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+ RAG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172200" y="3054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kesehatan yang bisa ditanyakan langsung ke AI.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502920" y="3657600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502920" y="3657600"/>
            <a:ext cx="50292" cy="100584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3" name="Shape 35"/>
          <p:cNvSpPr/>
          <p:nvPr/>
        </p:nvSpPr>
        <p:spPr>
          <a:xfrm>
            <a:off x="685800" y="3831336"/>
            <a:ext cx="347472" cy="347472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617" y="3925153"/>
            <a:ext cx="159837" cy="159837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124712" y="38130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Fasilitas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685800" y="4233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RS, klinik, dan puskesmas terdekat via Google Maps.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3246120" y="3657600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3246120" y="3657600"/>
            <a:ext cx="50292" cy="100584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9" name="Shape 40"/>
          <p:cNvSpPr/>
          <p:nvPr/>
        </p:nvSpPr>
        <p:spPr>
          <a:xfrm>
            <a:off x="3429000" y="3831336"/>
            <a:ext cx="347472" cy="347472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2817" y="3925153"/>
            <a:ext cx="159837" cy="159837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3867912" y="38130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Analitik</a:t>
            </a:r>
            <a:endParaRPr lang="en-US" sz="1200" dirty="0"/>
          </a:p>
        </p:txBody>
      </p:sp>
      <p:sp>
        <p:nvSpPr>
          <p:cNvPr id="52" name="Text 42"/>
          <p:cNvSpPr/>
          <p:nvPr/>
        </p:nvSpPr>
        <p:spPr>
          <a:xfrm>
            <a:off x="3429000" y="4233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real-time, filter lanjutan, ekspor CSV/Excel.</a:t>
            </a:r>
            <a:endParaRPr lang="en-US" sz="950" dirty="0"/>
          </a:p>
        </p:txBody>
      </p:sp>
      <p:sp>
        <p:nvSpPr>
          <p:cNvPr id="53" name="Shape 43"/>
          <p:cNvSpPr/>
          <p:nvPr/>
        </p:nvSpPr>
        <p:spPr>
          <a:xfrm>
            <a:off x="5989320" y="3657600"/>
            <a:ext cx="2651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5989320" y="3657600"/>
            <a:ext cx="50292" cy="100584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55" name="Shape 45"/>
          <p:cNvSpPr/>
          <p:nvPr/>
        </p:nvSpPr>
        <p:spPr>
          <a:xfrm>
            <a:off x="6172200" y="3831336"/>
            <a:ext cx="347472" cy="347472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6017" y="3925153"/>
            <a:ext cx="159837" cy="159837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6611112" y="38130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Asuransi &amp; Akun</a:t>
            </a:r>
            <a:endParaRPr lang="en-US" sz="1200" dirty="0"/>
          </a:p>
        </p:txBody>
      </p:sp>
      <p:sp>
        <p:nvSpPr>
          <p:cNvPr id="58" name="Text 47"/>
          <p:cNvSpPr/>
          <p:nvPr/>
        </p:nvSpPr>
        <p:spPr>
          <a:xfrm>
            <a:off x="6172200" y="4233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polis, kalkulasi coverage, profil pasien.</a:t>
            </a:r>
            <a:endParaRPr lang="en-US" sz="950" dirty="0"/>
          </a:p>
        </p:txBody>
      </p:sp>
      <p:sp>
        <p:nvSpPr>
          <p:cNvPr id="59" name="Text 48"/>
          <p:cNvSpPr/>
          <p:nvPr/>
        </p:nvSpPr>
        <p:spPr>
          <a:xfrm>
            <a:off x="502920" y="4718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VirtualDoctor</a:t>
            </a:r>
            <a:endParaRPr lang="en-US" sz="900" dirty="0"/>
          </a:p>
        </p:txBody>
      </p:sp>
      <p:sp>
        <p:nvSpPr>
          <p:cNvPr id="60" name="Text 49"/>
          <p:cNvSpPr/>
          <p:nvPr/>
        </p:nvSpPr>
        <p:spPr>
          <a:xfrm>
            <a:off x="7543800" y="47183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188720"/>
            <a:ext cx="3108960" cy="3108960"/>
          </a:xfrm>
          <a:prstGeom prst="ellipse">
            <a:avLst/>
          </a:prstGeom>
          <a:solidFill>
            <a:srgbClr val="1B4F6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50292" cy="80467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704088" y="36576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KECERDASAN BUATAN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4088" y="603504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 platform, lima penyedia AI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04088" y="1234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tidak dikunci ke satu vendor AI. Penyedia dapat diganti lewat konfigurasi — tanpa menulis ulang aplikasi. Butuh privasi maksimal? Jalankan model secara lokal di server sendiri.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06440" y="1234440"/>
            <a:ext cx="310896" cy="310896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382" y="1318382"/>
            <a:ext cx="143012" cy="143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12344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Bebas berpindah vendor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06440" y="1636776"/>
            <a:ext cx="310896" cy="310896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382" y="1720718"/>
            <a:ext cx="143012" cy="143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63640" y="16367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 model lokal (on-premise)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806440" y="2039112"/>
            <a:ext cx="310896" cy="310896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382" y="2123054"/>
            <a:ext cx="143012" cy="1430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0391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ikut model terbaru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2944368"/>
            <a:ext cx="1517904" cy="1335024"/>
          </a:xfrm>
          <a:prstGeom prst="rect">
            <a:avLst/>
          </a:prstGeom>
          <a:solidFill>
            <a:srgbClr val="132B3D"/>
          </a:solidFill>
          <a:ln w="9525">
            <a:solidFill>
              <a:srgbClr val="27435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2944368"/>
            <a:ext cx="1517904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8" name="Text 13"/>
          <p:cNvSpPr/>
          <p:nvPr/>
        </p:nvSpPr>
        <p:spPr>
          <a:xfrm>
            <a:off x="649224" y="307238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9224" y="332841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49224" y="3584448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jawaban umum terbaik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157984" y="2944368"/>
            <a:ext cx="1517904" cy="1335024"/>
          </a:xfrm>
          <a:prstGeom prst="rect">
            <a:avLst/>
          </a:prstGeom>
          <a:solidFill>
            <a:srgbClr val="132B3D"/>
          </a:solidFill>
          <a:ln w="9525">
            <a:solidFill>
              <a:srgbClr val="27435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157984" y="2944368"/>
            <a:ext cx="1517904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3" name="Text 18"/>
          <p:cNvSpPr/>
          <p:nvPr/>
        </p:nvSpPr>
        <p:spPr>
          <a:xfrm>
            <a:off x="2304288" y="307238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2304288" y="332841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304288" y="3584448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 dan hemat biaya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813048" y="2944368"/>
            <a:ext cx="1517904" cy="1335024"/>
          </a:xfrm>
          <a:prstGeom prst="rect">
            <a:avLst/>
          </a:prstGeom>
          <a:solidFill>
            <a:srgbClr val="132B3D"/>
          </a:solidFill>
          <a:ln w="9525">
            <a:solidFill>
              <a:srgbClr val="27435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813048" y="2944368"/>
            <a:ext cx="1517904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8" name="Text 23"/>
          <p:cNvSpPr/>
          <p:nvPr/>
        </p:nvSpPr>
        <p:spPr>
          <a:xfrm>
            <a:off x="3959352" y="307238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3959352" y="332841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3959352" y="3584448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Penalaran panjang &amp; aman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468112" y="2944368"/>
            <a:ext cx="1517904" cy="1335024"/>
          </a:xfrm>
          <a:prstGeom prst="rect">
            <a:avLst/>
          </a:prstGeom>
          <a:solidFill>
            <a:srgbClr val="132B3D"/>
          </a:solidFill>
          <a:ln w="9525">
            <a:solidFill>
              <a:srgbClr val="27435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468112" y="2944368"/>
            <a:ext cx="1517904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3" name="Text 28"/>
          <p:cNvSpPr/>
          <p:nvPr/>
        </p:nvSpPr>
        <p:spPr>
          <a:xfrm>
            <a:off x="5614416" y="307238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5614416" y="332841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(lokal)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5614416" y="3584448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tidak keluar server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7123176" y="2944368"/>
            <a:ext cx="1517904" cy="1335024"/>
          </a:xfrm>
          <a:prstGeom prst="rect">
            <a:avLst/>
          </a:prstGeom>
          <a:solidFill>
            <a:srgbClr val="132B3D"/>
          </a:solidFill>
          <a:ln w="9525">
            <a:solidFill>
              <a:srgbClr val="27435A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123176" y="2944368"/>
            <a:ext cx="1517904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8" name="Text 33"/>
          <p:cNvSpPr/>
          <p:nvPr/>
        </p:nvSpPr>
        <p:spPr>
          <a:xfrm>
            <a:off x="7269480" y="307238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Kustom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7269480" y="332841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7269480" y="3584448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internal Anda sendiri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502920" y="4718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D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VirtualDoctor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7543800" y="47183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80467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6576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4088" y="603504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Bukan sekadar chatbot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04088" y="11155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Sebelas kemampuan yang memanggil layanan aplikasi secara langsung untuk menyelesaikan permintaan pasien.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63040"/>
            <a:ext cx="45720" cy="658368"/>
          </a:xfrm>
          <a:prstGeom prst="rect">
            <a:avLst/>
          </a:prstGeom>
          <a:solidFill>
            <a:srgbClr val="2F7D7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361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searchInternet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informasi kesehatan terkini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463040"/>
            <a:ext cx="45720" cy="658368"/>
          </a:xfrm>
          <a:prstGeom prst="rect">
            <a:avLst/>
          </a:prstGeom>
          <a:solidFill>
            <a:srgbClr val="2F7D73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361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checkDate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29000" y="17922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tanggal dan waktu layanan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1463040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1463040"/>
            <a:ext cx="45720" cy="658368"/>
          </a:xfrm>
          <a:prstGeom prst="rect">
            <a:avLst/>
          </a:prstGeom>
          <a:solidFill>
            <a:srgbClr val="2F7D73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5361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mathCalc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2200" y="17922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dosis dan estimasi biaya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249424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249424"/>
            <a:ext cx="45720" cy="658368"/>
          </a:xfrm>
          <a:prstGeom prst="rect">
            <a:avLst/>
          </a:prstGeom>
          <a:solidFill>
            <a:srgbClr val="2F7D7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225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readFileFromUrl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" y="2578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berkas dari tautan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2249424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249424"/>
            <a:ext cx="45720" cy="658368"/>
          </a:xfrm>
          <a:prstGeom prst="rect">
            <a:avLst/>
          </a:prstGeom>
          <a:solidFill>
            <a:srgbClr val="2F7D73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3225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describeImage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29000" y="2578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gambar yang diunggah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249424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249424"/>
            <a:ext cx="45720" cy="658368"/>
          </a:xfrm>
          <a:prstGeom prst="rect">
            <a:avLst/>
          </a:prstGeom>
          <a:solidFill>
            <a:srgbClr val="2F7D73"/>
          </a:solidFill>
          <a:ln/>
        </p:spPr>
      </p:sp>
      <p:sp>
        <p:nvSpPr>
          <p:cNvPr id="28" name="Text 26"/>
          <p:cNvSpPr/>
          <p:nvPr/>
        </p:nvSpPr>
        <p:spPr>
          <a:xfrm>
            <a:off x="6172200" y="23225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scrapWebPage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72200" y="2578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isi halaman rujukan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3035808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035808"/>
            <a:ext cx="45720" cy="658368"/>
          </a:xfrm>
          <a:prstGeom prst="rect">
            <a:avLst/>
          </a:prstGeom>
          <a:solidFill>
            <a:srgbClr val="2F7D73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108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askDoctor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" y="33649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Teruskan ke dokter sungguhan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46120" y="3035808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6120" y="3035808"/>
            <a:ext cx="45720" cy="658368"/>
          </a:xfrm>
          <a:prstGeom prst="rect">
            <a:avLst/>
          </a:prstGeom>
          <a:solidFill>
            <a:srgbClr val="2F7D73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3108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orderMedicine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429000" y="33649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dan pesankan obat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89320" y="3035808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3035808"/>
            <a:ext cx="45720" cy="658368"/>
          </a:xfrm>
          <a:prstGeom prst="rect">
            <a:avLst/>
          </a:prstGeom>
          <a:solidFill>
            <a:srgbClr val="2F7D73"/>
          </a:solidFill>
          <a:ln/>
        </p:spPr>
      </p:sp>
      <p:sp>
        <p:nvSpPr>
          <p:cNvPr id="40" name="Text 38"/>
          <p:cNvSpPr/>
          <p:nvPr/>
        </p:nvSpPr>
        <p:spPr>
          <a:xfrm>
            <a:off x="6172200" y="3108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scheduleDoctor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172200" y="33649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jadwal dan buat janji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3822192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" y="3822192"/>
            <a:ext cx="45720" cy="658368"/>
          </a:xfrm>
          <a:prstGeom prst="rect">
            <a:avLst/>
          </a:prstGeom>
          <a:solidFill>
            <a:srgbClr val="2F7D73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3895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findHospital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85800" y="41513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Temukan RS/klinik terdekat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46120" y="3822192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46120" y="3822192"/>
            <a:ext cx="45720" cy="658368"/>
          </a:xfrm>
          <a:prstGeom prst="rect">
            <a:avLst/>
          </a:prstGeom>
          <a:solidFill>
            <a:srgbClr val="2F7D73"/>
          </a:solidFill>
          <a:ln/>
        </p:spPr>
      </p:sp>
      <p:sp>
        <p:nvSpPr>
          <p:cNvPr id="48" name="Text 46"/>
          <p:cNvSpPr/>
          <p:nvPr/>
        </p:nvSpPr>
        <p:spPr>
          <a:xfrm>
            <a:off x="3429000" y="3895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F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queryHealthDocs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429000" y="415137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 dari dokumen medis (RAG)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3822192"/>
            <a:ext cx="2651760" cy="658368"/>
          </a:xfrm>
          <a:prstGeom prst="rect">
            <a:avLst/>
          </a:prstGeom>
          <a:solidFill>
            <a:srgbClr val="1B4F63"/>
          </a:solidFill>
          <a:ln/>
        </p:spPr>
      </p:sp>
      <p:sp>
        <p:nvSpPr>
          <p:cNvPr id="51" name="Text 49"/>
          <p:cNvSpPr/>
          <p:nvPr/>
        </p:nvSpPr>
        <p:spPr>
          <a:xfrm>
            <a:off x="6172200" y="382219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ditambah sesuai proses bisnis Anda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2920" y="4718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VirtualDoctor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543800" y="47183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80467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6576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PENGETAHUAN TERPERCAYA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4088" y="603504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Jawaban dari dokumen resmi Anda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04088" y="11155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Unggah panduan klinis dan dokumen medis institusi — AI menjawab berdasarkan isinya, bukan mengarang.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1463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00200"/>
            <a:ext cx="1463040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1783080"/>
            <a:ext cx="402336" cy="402336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903" y="1891711"/>
            <a:ext cx="185075" cy="1850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Unggah PDF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25054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&amp; artikel medis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965960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167128" y="1600200"/>
            <a:ext cx="1463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167128" y="1600200"/>
            <a:ext cx="1463040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5" name="Shape 12"/>
          <p:cNvSpPr/>
          <p:nvPr/>
        </p:nvSpPr>
        <p:spPr>
          <a:xfrm>
            <a:off x="2697480" y="1783080"/>
            <a:ext cx="402336" cy="402336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111" y="1891711"/>
            <a:ext cx="185075" cy="1850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258568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Ekstraksi Teks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258568" y="25054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dokumen dibaca otomatis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30168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831336" y="1600200"/>
            <a:ext cx="1463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831336" y="1600200"/>
            <a:ext cx="1463040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2" name="Shape 18"/>
          <p:cNvSpPr/>
          <p:nvPr/>
        </p:nvSpPr>
        <p:spPr>
          <a:xfrm>
            <a:off x="4361688" y="1783080"/>
            <a:ext cx="402336" cy="402336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0319" y="1891711"/>
            <a:ext cx="185075" cy="1850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922776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Pemecahan Bagian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922776" y="25054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Dipotong menjadi konteks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294376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5495544" y="1600200"/>
            <a:ext cx="1463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495544" y="1600200"/>
            <a:ext cx="1463040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9" name="Shape 24"/>
          <p:cNvSpPr/>
          <p:nvPr/>
        </p:nvSpPr>
        <p:spPr>
          <a:xfrm>
            <a:off x="6025896" y="1783080"/>
            <a:ext cx="402336" cy="402336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527" y="1891711"/>
            <a:ext cx="185075" cy="18507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86984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 Vektor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586984" y="25054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Disimpan &amp; dapat dicari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958584" y="19202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7159752" y="1600200"/>
            <a:ext cx="1463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159752" y="1600200"/>
            <a:ext cx="1463040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6" name="Shape 30"/>
          <p:cNvSpPr/>
          <p:nvPr/>
        </p:nvSpPr>
        <p:spPr>
          <a:xfrm>
            <a:off x="7690104" y="1783080"/>
            <a:ext cx="402336" cy="402336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8735" y="1891711"/>
            <a:ext cx="185075" cy="18507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251192" y="2267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Jawab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7251192" y="25054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+ rujukan sumber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502920" y="3310128"/>
            <a:ext cx="8138160" cy="1078992"/>
          </a:xfrm>
          <a:prstGeom prst="rect">
            <a:avLst/>
          </a:prstGeom>
          <a:solidFill>
            <a:srgbClr val="1B4F63"/>
          </a:solidFill>
          <a:ln/>
        </p:spPr>
      </p:sp>
      <p:sp>
        <p:nvSpPr>
          <p:cNvPr id="41" name="Shape 34"/>
          <p:cNvSpPr/>
          <p:nvPr/>
        </p:nvSpPr>
        <p:spPr>
          <a:xfrm>
            <a:off x="502920" y="3310128"/>
            <a:ext cx="50292" cy="10789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2" name="Shape 35"/>
          <p:cNvSpPr/>
          <p:nvPr/>
        </p:nvSpPr>
        <p:spPr>
          <a:xfrm>
            <a:off x="795528" y="3602736"/>
            <a:ext cx="493776" cy="493776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848" y="3736056"/>
            <a:ext cx="227137" cy="227137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463040" y="34930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Pengindeksan berjalan otomatis di latar belakang</a:t>
            </a:r>
            <a:endParaRPr lang="en-US" sz="1350" dirty="0"/>
          </a:p>
        </p:txBody>
      </p:sp>
      <p:sp>
        <p:nvSpPr>
          <p:cNvPr id="45" name="Text 37"/>
          <p:cNvSpPr/>
          <p:nvPr/>
        </p:nvSpPr>
        <p:spPr>
          <a:xfrm>
            <a:off x="1463040" y="3785616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latar belakang memindai folder dokumen secara berkala, sehingga materi baru langsung dapat ditanyakan pasien maupun staf tanpa proses manual.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502920" y="4718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VirtualDoctor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7543800" y="47183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80467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6576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 PASIEN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4088" y="603504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Alur yang singkat dan bisa ditebak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886200" cy="475488"/>
          </a:xfrm>
          <a:prstGeom prst="rect">
            <a:avLst/>
          </a:prstGeom>
          <a:solidFill>
            <a:srgbClr val="1B4F63"/>
          </a:solidFill>
          <a:ln/>
        </p:spPr>
      </p:sp>
      <p:sp>
        <p:nvSpPr>
          <p:cNvPr id="6" name="Shape 4"/>
          <p:cNvSpPr/>
          <p:nvPr/>
        </p:nvSpPr>
        <p:spPr>
          <a:xfrm>
            <a:off x="630936" y="1344168"/>
            <a:ext cx="256032" cy="256032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65" y="1413297"/>
            <a:ext cx="117775" cy="1177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2344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Konsultasi Online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18836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23544" y="1847088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dokter — filter spesialisasi &amp; status online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3317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23544" y="2295144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percakapan real-time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277977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23544" y="2743200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teks, foto keluhan, dan dokumen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22783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23544" y="3191256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konsultasi tersimpan otomatis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367588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23544" y="3639312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ulasan dan rating untuk dokter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1234440"/>
            <a:ext cx="3886200" cy="475488"/>
          </a:xfrm>
          <a:prstGeom prst="rect">
            <a:avLst/>
          </a:prstGeom>
          <a:solidFill>
            <a:srgbClr val="1B4F63"/>
          </a:solidFill>
          <a:ln/>
        </p:spPr>
      </p:sp>
      <p:sp>
        <p:nvSpPr>
          <p:cNvPr id="25" name="Shape 22"/>
          <p:cNvSpPr/>
          <p:nvPr/>
        </p:nvSpPr>
        <p:spPr>
          <a:xfrm>
            <a:off x="4882896" y="1344168"/>
            <a:ext cx="256032" cy="256032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025" y="1413297"/>
            <a:ext cx="117775" cy="11777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30368" y="12344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Fasilitas Kesehatan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4754880" y="18836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54880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175504" y="1847088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dokter tujuan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754880" y="23317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5488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175504" y="2295144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tatap muka atau online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754880" y="277977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5488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5175504" y="2743200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rumah sakit atau klinik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754880" y="322783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754880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5175504" y="3191256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tanggal dan jam praktik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4754880" y="367588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754880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5175504" y="3639312"/>
            <a:ext cx="3465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estimasi biaya, lalu konfirmasi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502920" y="4059936"/>
            <a:ext cx="8138160" cy="457200"/>
          </a:xfrm>
          <a:prstGeom prst="rect">
            <a:avLst/>
          </a:prstGeom>
          <a:solidFill>
            <a:srgbClr val="1B4F63"/>
          </a:solidFill>
          <a:ln/>
        </p:spPr>
      </p:sp>
      <p:sp>
        <p:nvSpPr>
          <p:cNvPr id="44" name="Shape 40"/>
          <p:cNvSpPr/>
          <p:nvPr/>
        </p:nvSpPr>
        <p:spPr>
          <a:xfrm>
            <a:off x="502920" y="4059936"/>
            <a:ext cx="50292" cy="45720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5" name="Text 41"/>
          <p:cNvSpPr/>
          <p:nvPr/>
        </p:nvSpPr>
        <p:spPr>
          <a:xfrm>
            <a:off x="758952" y="405993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langkah tercatat otomatis — pasien, dokter, dan staf melihat status yang sama.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502920" y="4718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VirtualDoctor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7543800" y="47183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5143500"/>
          </a:xfrm>
          <a:prstGeom prst="rect">
            <a:avLst/>
          </a:prstGeom>
          <a:solidFill>
            <a:srgbClr val="1B4F63"/>
          </a:solidFill>
          <a:ln/>
        </p:spPr>
      </p:sp>
      <p:sp>
        <p:nvSpPr>
          <p:cNvPr id="3" name="Shape 1"/>
          <p:cNvSpPr/>
          <p:nvPr/>
        </p:nvSpPr>
        <p:spPr>
          <a:xfrm>
            <a:off x="1325880" y="3794760"/>
            <a:ext cx="2194560" cy="2194560"/>
          </a:xfrm>
          <a:prstGeom prst="ellipse">
            <a:avLst/>
          </a:prstGeom>
          <a:solidFill>
            <a:srgbClr val="256A84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66928"/>
            <a:ext cx="50292" cy="56692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5486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FARMASI DIGITAL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768096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Obat sampai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 depan pintu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8368" y="1801368"/>
            <a:ext cx="237744" cy="237744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59" y="1865559"/>
            <a:ext cx="109362" cy="1093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obat bebas, obat keras, vitamin, dan suplemen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8368" y="2350008"/>
            <a:ext cx="237744" cy="237744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59" y="2414199"/>
            <a:ext cx="109362" cy="1093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2331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 resep dokter pada obat tertentu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58368" y="2898648"/>
            <a:ext cx="237744" cy="237744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59" y="2962839"/>
            <a:ext cx="109362" cy="1093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Keranjang belanja dan checkout terpandu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58368" y="3447288"/>
            <a:ext cx="237744" cy="237744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59" y="3511479"/>
            <a:ext cx="109362" cy="1093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4128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apotek terdekat dengan integrasi kurir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58368" y="3995928"/>
            <a:ext cx="237744" cy="237744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59" y="4060119"/>
            <a:ext cx="109362" cy="10936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24128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dapat ditanggung asuransi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617720" y="566928"/>
            <a:ext cx="50292" cy="56692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3" name="Text 16"/>
          <p:cNvSpPr/>
          <p:nvPr/>
        </p:nvSpPr>
        <p:spPr>
          <a:xfrm>
            <a:off x="4818888" y="5486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HOMECARE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4818888" y="768096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Layanan medis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datang ke rumah</a:t>
            </a:r>
            <a:endParaRPr lang="en-US" sz="2400" dirty="0"/>
          </a:p>
        </p:txBody>
      </p:sp>
      <p:sp>
        <p:nvSpPr>
          <p:cNvPr id="25" name="Shape 18"/>
          <p:cNvSpPr/>
          <p:nvPr/>
        </p:nvSpPr>
        <p:spPr>
          <a:xfrm>
            <a:off x="4818888" y="1737360"/>
            <a:ext cx="384048" cy="384048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581" y="1841053"/>
            <a:ext cx="176662" cy="17666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49240" y="17190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Laboratorium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349240" y="19385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Darah lengkap, kolesterol, gula darah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4818888" y="2340864"/>
            <a:ext cx="384048" cy="384048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2581" y="2444557"/>
            <a:ext cx="176662" cy="17666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349240" y="23225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Vaksinasi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5349240" y="25420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Influenza dan COVID-19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4818888" y="2944368"/>
            <a:ext cx="384048" cy="384048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2581" y="3048061"/>
            <a:ext cx="176662" cy="17666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49240" y="2926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Booster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5349240" y="31455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 daya tahan tubuh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4818888" y="3547872"/>
            <a:ext cx="384048" cy="384048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2581" y="3651565"/>
            <a:ext cx="176662" cy="17666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349240" y="35295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Panggil Dokter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5349240" y="37490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 langsung di rumah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4818888" y="4151376"/>
            <a:ext cx="384048" cy="384048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2581" y="4255069"/>
            <a:ext cx="176662" cy="17666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349240" y="41330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Kunjungan Perawat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5349240" y="43525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Perawatan lanjutan pascarawat</a:t>
            </a:r>
            <a:endParaRPr lang="en-US" sz="950" dirty="0"/>
          </a:p>
        </p:txBody>
      </p:sp>
      <p:sp>
        <p:nvSpPr>
          <p:cNvPr id="45" name="Text 33"/>
          <p:cNvSpPr/>
          <p:nvPr/>
        </p:nvSpPr>
        <p:spPr>
          <a:xfrm>
            <a:off x="658368" y="4718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8F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VirtualDoctor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7543800" y="47183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80467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6576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MANAJEMEN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4088" y="603504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Angka untuk mengambil keputusan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8463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6" name="Chart 0"/>
          <p:cNvGraphicFramePr/>
          <p:nvPr/>
        </p:nvGraphicFramePr>
        <p:xfrm>
          <a:off x="640080" y="1463040"/>
          <a:ext cx="45720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Ilustrasi tampilan dashboard — grafik terisi otomatis dari data operasional Anda.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23560" y="1298448"/>
            <a:ext cx="301752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23560" y="1298448"/>
            <a:ext cx="50292" cy="94183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0" name="Text 7"/>
          <p:cNvSpPr/>
          <p:nvPr/>
        </p:nvSpPr>
        <p:spPr>
          <a:xfrm>
            <a:off x="5779008" y="138988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382512" y="14264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data siap diekspor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79008" y="18470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Pengguna, dokter, RS, obat, artikel, janji temu, jadwal, homecare.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23560" y="2359152"/>
            <a:ext cx="301752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23560" y="2359152"/>
            <a:ext cx="50292" cy="94183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5" name="Text 12"/>
          <p:cNvSpPr/>
          <p:nvPr/>
        </p:nvSpPr>
        <p:spPr>
          <a:xfrm>
            <a:off x="5779008" y="245059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382512" y="24871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laporan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79008" y="29077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Unduh sebagai CSV atau Excel langsung dari halaman admin.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23560" y="3419856"/>
            <a:ext cx="301752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23560" y="3419856"/>
            <a:ext cx="50292" cy="94183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0" name="Text 17"/>
          <p:cNvSpPr/>
          <p:nvPr/>
        </p:nvSpPr>
        <p:spPr>
          <a:xfrm>
            <a:off x="5779008" y="351129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6382512" y="35478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kebenaran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79008" y="39684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angka diambil langsung dari basis data, tanpa rekap manual.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4718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VirtualDoctor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543800" y="47183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80467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6576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4088" y="603504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Arsitektur berlapis yang rapi dan teruji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98448"/>
            <a:ext cx="2148840" cy="896112"/>
          </a:xfrm>
          <a:prstGeom prst="rect">
            <a:avLst/>
          </a:prstGeom>
          <a:solidFill>
            <a:srgbClr val="0B1D2A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1554480"/>
            <a:ext cx="384048" cy="384048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81" y="1658173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16152" y="1298448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834640" y="1536192"/>
            <a:ext cx="1353312" cy="420624"/>
          </a:xfrm>
          <a:prstGeom prst="rect">
            <a:avLst/>
          </a:prstGeom>
          <a:solidFill>
            <a:srgbClr val="F6F3EE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0360" y="15361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97680" y="1536192"/>
            <a:ext cx="1353312" cy="420624"/>
          </a:xfrm>
          <a:prstGeom prst="rect">
            <a:avLst/>
          </a:prstGeom>
          <a:solidFill>
            <a:srgbClr val="F6F3EE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3400" y="15361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real-time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60720" y="1536192"/>
            <a:ext cx="1353312" cy="420624"/>
          </a:xfrm>
          <a:prstGeom prst="rect">
            <a:avLst/>
          </a:prstGeom>
          <a:solidFill>
            <a:srgbClr val="F6F3EE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15361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 &amp; mobile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223760" y="1536192"/>
            <a:ext cx="1353312" cy="420624"/>
          </a:xfrm>
          <a:prstGeom prst="rect">
            <a:avLst/>
          </a:prstGeom>
          <a:solidFill>
            <a:srgbClr val="F6F3EE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69480" y="153619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terang/gelap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359152"/>
            <a:ext cx="81381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2359152"/>
            <a:ext cx="2148840" cy="896112"/>
          </a:xfrm>
          <a:prstGeom prst="rect">
            <a:avLst/>
          </a:prstGeom>
          <a:solidFill>
            <a:srgbClr val="1B4F63"/>
          </a:solidFill>
          <a:ln/>
        </p:spPr>
      </p:sp>
      <p:sp>
        <p:nvSpPr>
          <p:cNvPr id="20" name="Shape 17"/>
          <p:cNvSpPr/>
          <p:nvPr/>
        </p:nvSpPr>
        <p:spPr>
          <a:xfrm>
            <a:off x="704088" y="2615184"/>
            <a:ext cx="384048" cy="384048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81" y="2718877"/>
            <a:ext cx="176662" cy="17666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16152" y="2359152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2834640" y="2596896"/>
            <a:ext cx="1353312" cy="420624"/>
          </a:xfrm>
          <a:prstGeom prst="rect">
            <a:avLst/>
          </a:prstGeom>
          <a:solidFill>
            <a:srgbClr val="F6F3EE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880360" y="2596896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Service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297680" y="2596896"/>
            <a:ext cx="1353312" cy="420624"/>
          </a:xfrm>
          <a:prstGeom prst="rect">
            <a:avLst/>
          </a:prstGeom>
          <a:solidFill>
            <a:srgbClr val="F6F3EE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343400" y="2596896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Service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760720" y="2596896"/>
            <a:ext cx="1353312" cy="420624"/>
          </a:xfrm>
          <a:prstGeom prst="rect">
            <a:avLst/>
          </a:prstGeom>
          <a:solidFill>
            <a:srgbClr val="F6F3EE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806440" y="2596896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Bisnis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7223760" y="2596896"/>
            <a:ext cx="1353312" cy="420624"/>
          </a:xfrm>
          <a:prstGeom prst="rect">
            <a:avLst/>
          </a:prstGeom>
          <a:solidFill>
            <a:srgbClr val="F6F3EE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269480" y="2596896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Service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502920" y="3419856"/>
            <a:ext cx="81381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02920" y="3419856"/>
            <a:ext cx="2148840" cy="896112"/>
          </a:xfrm>
          <a:prstGeom prst="rect">
            <a:avLst/>
          </a:prstGeom>
          <a:solidFill>
            <a:srgbClr val="0B1D2A"/>
          </a:solidFill>
          <a:ln/>
        </p:spPr>
      </p:sp>
      <p:sp>
        <p:nvSpPr>
          <p:cNvPr id="33" name="Shape 29"/>
          <p:cNvSpPr/>
          <p:nvPr/>
        </p:nvSpPr>
        <p:spPr>
          <a:xfrm>
            <a:off x="704088" y="3675888"/>
            <a:ext cx="384048" cy="384048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81" y="3779581"/>
            <a:ext cx="176662" cy="17666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216152" y="3419856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Infrastruktur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2834640" y="3657600"/>
            <a:ext cx="1353312" cy="420624"/>
          </a:xfrm>
          <a:prstGeom prst="rect">
            <a:avLst/>
          </a:prstGeom>
          <a:solidFill>
            <a:srgbClr val="F6F3EE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880360" y="36576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4297680" y="3657600"/>
            <a:ext cx="1353312" cy="420624"/>
          </a:xfrm>
          <a:prstGeom prst="rect">
            <a:avLst/>
          </a:prstGeom>
          <a:solidFill>
            <a:srgbClr val="F6F3EE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343400" y="36576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5760720" y="3657600"/>
            <a:ext cx="1353312" cy="420624"/>
          </a:xfrm>
          <a:prstGeom prst="rect">
            <a:avLst/>
          </a:prstGeom>
          <a:solidFill>
            <a:srgbClr val="F6F3EE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806440" y="36576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Functions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7223760" y="3657600"/>
            <a:ext cx="1353312" cy="420624"/>
          </a:xfrm>
          <a:prstGeom prst="rect">
            <a:avLst/>
          </a:prstGeom>
          <a:solidFill>
            <a:srgbClr val="F6F3EE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269480" y="36576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Latar Belakang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502920" y="4480560"/>
            <a:ext cx="8138160" cy="384048"/>
          </a:xfrm>
          <a:prstGeom prst="rect">
            <a:avLst/>
          </a:prstGeom>
          <a:solidFill>
            <a:srgbClr val="0B1D2A"/>
          </a:solidFill>
          <a:ln/>
        </p:spPr>
      </p:sp>
      <p:sp>
        <p:nvSpPr>
          <p:cNvPr id="45" name="Text 40"/>
          <p:cNvSpPr/>
          <p:nvPr/>
        </p:nvSpPr>
        <p:spPr>
          <a:xfrm>
            <a:off x="502920" y="44805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8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 ·  C#  ·  Semantic Kernel  ·  Entity Framework Core  ·  SignalR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7955280" y="4480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80467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6576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KEMERDEKAAN TEKNOLOGI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4088" y="603504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Anda yang menentukan teknologinya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04088" y="11155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komponen inti dapat diganti lewat berkas konfigurasi — tanpa perubahan kode aplikasi.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8138160" cy="26517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Opsi yang Didukung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untuk Anda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· SQL Server · PostgreSQL · MySQL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Pakai basis data yang sudah dimiliki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Penyimpanan Berkas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lokal · Amazon S3 · MinIO · Azure Blob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Kendali penuh atas berkas medis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Data Vektor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InMemory · SQLite · Qdrant · Chroma · Azure AI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Skala dari pilot hingga produksi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Penyedia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· Gemini · Claude · Ollama lokal · Endpoint kustom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Bebas dari penguncian vendor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54864" marB="54864" anchor="ctr">
                    <a:lnL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160520"/>
            <a:ext cx="8138160" cy="566928"/>
          </a:xfrm>
          <a:prstGeom prst="rect">
            <a:avLst/>
          </a:prstGeom>
          <a:solidFill>
            <a:srgbClr val="1B4F63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4160520"/>
            <a:ext cx="50292" cy="566928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41605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kecil dengan konfigurasi bawaan, lalu naik kelas ke infrastruktur enterprise saat kebutuhan tumbuh.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3474720" cy="3474720"/>
          </a:xfrm>
          <a:prstGeom prst="ellipse">
            <a:avLst/>
          </a:prstGeom>
          <a:solidFill>
            <a:srgbClr val="1B4F6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50292" cy="80467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704088" y="36576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KEPERCAYAAN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04088" y="603504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kesehatan tetap milik Anda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04088" y="11704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medis bersifat sensitif. VirtualDoctor dirancang agar institusi tetap memegang kendali penuh atas tempat data disimpan dan siapa yang boleh membukanya.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651760" cy="2331720"/>
          </a:xfrm>
          <a:prstGeom prst="rect">
            <a:avLst/>
          </a:prstGeom>
          <a:solidFill>
            <a:srgbClr val="132B3D"/>
          </a:solidFill>
          <a:ln w="9525">
            <a:solidFill>
              <a:srgbClr val="2743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2651760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2121408"/>
            <a:ext cx="493776" cy="493776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6" y="2254728"/>
            <a:ext cx="227137" cy="2271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2376" y="2724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di infrastruktur Anda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2376" y="3145536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di server internal rumah sakit atau cloud pilihan Anda. Dengan model AI lokal, percakapan pasien tidak pernah meninggalkan jaringan.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46120" y="1874520"/>
            <a:ext cx="2651760" cy="2331720"/>
          </a:xfrm>
          <a:prstGeom prst="rect">
            <a:avLst/>
          </a:prstGeom>
          <a:solidFill>
            <a:srgbClr val="132B3D"/>
          </a:solidFill>
          <a:ln w="9525">
            <a:solidFill>
              <a:srgbClr val="2743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874520"/>
            <a:ext cx="2651760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5" name="Shape 12"/>
          <p:cNvSpPr/>
          <p:nvPr/>
        </p:nvSpPr>
        <p:spPr>
          <a:xfrm>
            <a:off x="3465576" y="2121408"/>
            <a:ext cx="493776" cy="493776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8896" y="2254728"/>
            <a:ext cx="227137" cy="2271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65576" y="2724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sesuai peran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65576" y="3145536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pasien, dokter, dan administrator dipisahkan. Seluruh halaman tertutup secara bawaan dan hanya terbuka setelah masuk.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989320" y="1874520"/>
            <a:ext cx="2651760" cy="2331720"/>
          </a:xfrm>
          <a:prstGeom prst="rect">
            <a:avLst/>
          </a:prstGeom>
          <a:solidFill>
            <a:srgbClr val="132B3D"/>
          </a:solidFill>
          <a:ln w="9525">
            <a:solidFill>
              <a:srgbClr val="27435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89320" y="1874520"/>
            <a:ext cx="2651760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1" name="Shape 17"/>
          <p:cNvSpPr/>
          <p:nvPr/>
        </p:nvSpPr>
        <p:spPr>
          <a:xfrm>
            <a:off x="6208776" y="2121408"/>
            <a:ext cx="493776" cy="493776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096" y="2254728"/>
            <a:ext cx="227137" cy="22713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08776" y="27249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 dan dapat diaudit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08776" y="3145536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konsultasi, pesanan, dan janji temu tercatat rapi serta dapat diekspor kapan saja untuk keperluan audit.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02920" y="4718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D7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VirtualDoctor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543800" y="47183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80467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6576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4088" y="603504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 kesepakatan hingga tayang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04088" y="10972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linimasa penerapan — durasi menyesuaikan cakupan integrasi dan kesiapan data.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51560" y="1975104"/>
            <a:ext cx="7040880" cy="27432"/>
          </a:xfrm>
          <a:prstGeom prst="rect">
            <a:avLst/>
          </a:prstGeom>
          <a:solidFill>
            <a:srgbClr val="E3DED3"/>
          </a:solidFill>
          <a:ln/>
        </p:spPr>
      </p:sp>
      <p:sp>
        <p:nvSpPr>
          <p:cNvPr id="7" name="Shape 5"/>
          <p:cNvSpPr/>
          <p:nvPr/>
        </p:nvSpPr>
        <p:spPr>
          <a:xfrm>
            <a:off x="1248156" y="1737360"/>
            <a:ext cx="475488" cy="475488"/>
          </a:xfrm>
          <a:prstGeom prst="ellipse">
            <a:avLst/>
          </a:prstGeom>
          <a:solidFill>
            <a:srgbClr val="1B4F63"/>
          </a:solidFill>
          <a:ln/>
        </p:spPr>
      </p:sp>
      <p:sp>
        <p:nvSpPr>
          <p:cNvPr id="8" name="Text 6"/>
          <p:cNvSpPr/>
          <p:nvPr/>
        </p:nvSpPr>
        <p:spPr>
          <a:xfrm>
            <a:off x="1248156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50592"/>
            <a:ext cx="1965960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450592"/>
            <a:ext cx="1965960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151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Konfigurasi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14553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kebutuhan, penyiapan basis data, dan konfigurasi penyedia AI.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69564" y="1737360"/>
            <a:ext cx="475488" cy="475488"/>
          </a:xfrm>
          <a:prstGeom prst="ellipse">
            <a:avLst/>
          </a:prstGeom>
          <a:solidFill>
            <a:srgbClr val="1B4F63"/>
          </a:solidFill>
          <a:ln/>
        </p:spPr>
      </p:sp>
      <p:sp>
        <p:nvSpPr>
          <p:cNvPr id="14" name="Text 12"/>
          <p:cNvSpPr/>
          <p:nvPr/>
        </p:nvSpPr>
        <p:spPr>
          <a:xfrm>
            <a:off x="3369564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24328" y="2450592"/>
            <a:ext cx="1965960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24328" y="2450592"/>
            <a:ext cx="1965960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7" name="Text 15"/>
          <p:cNvSpPr/>
          <p:nvPr/>
        </p:nvSpPr>
        <p:spPr>
          <a:xfrm>
            <a:off x="2807208" y="26151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&amp; Branding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07208" y="314553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Migrasi data dokter, obat, dan fasilitas. Penyesuaian identitas visual.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90972" y="1737360"/>
            <a:ext cx="475488" cy="475488"/>
          </a:xfrm>
          <a:prstGeom prst="ellipse">
            <a:avLst/>
          </a:prstGeom>
          <a:solidFill>
            <a:srgbClr val="1B4F63"/>
          </a:solidFill>
          <a:ln/>
        </p:spPr>
      </p:sp>
      <p:sp>
        <p:nvSpPr>
          <p:cNvPr id="20" name="Text 18"/>
          <p:cNvSpPr/>
          <p:nvPr/>
        </p:nvSpPr>
        <p:spPr>
          <a:xfrm>
            <a:off x="5490972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45736" y="2450592"/>
            <a:ext cx="1965960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45736" y="2450592"/>
            <a:ext cx="1965960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3" name="Text 21"/>
          <p:cNvSpPr/>
          <p:nvPr/>
        </p:nvSpPr>
        <p:spPr>
          <a:xfrm>
            <a:off x="4928616" y="26151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&amp; Pelatihan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28616" y="314553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bersama tim medis, pelatihan admin, dan penyempurnaan alur.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12380" y="1737360"/>
            <a:ext cx="475488" cy="475488"/>
          </a:xfrm>
          <a:prstGeom prst="ellipse">
            <a:avLst/>
          </a:prstGeom>
          <a:solidFill>
            <a:srgbClr val="1B4F63"/>
          </a:solidFill>
          <a:ln/>
        </p:spPr>
      </p:sp>
      <p:sp>
        <p:nvSpPr>
          <p:cNvPr id="26" name="Text 24"/>
          <p:cNvSpPr/>
          <p:nvPr/>
        </p:nvSpPr>
        <p:spPr>
          <a:xfrm>
            <a:off x="7612380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67144" y="2450592"/>
            <a:ext cx="1965960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67144" y="2450592"/>
            <a:ext cx="1965960" cy="45720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9" name="Text 27"/>
          <p:cNvSpPr/>
          <p:nvPr/>
        </p:nvSpPr>
        <p:spPr>
          <a:xfrm>
            <a:off x="7050024" y="261518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Dukungan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50024" y="3145536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Peluncuran, pemantauan, dan pendampingan operasional berkelanjutan.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47183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VirtualDoctor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47183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" cy="80467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65760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1B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KERJASAMA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4088" y="603504"/>
            <a:ext cx="7936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Tiga cara memulai bersama kami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51760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2651760" cy="54864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57276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Managed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2376" y="188366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2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klinik dan startup kesehatan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" y="2377440"/>
            <a:ext cx="219456" cy="219456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29" y="2436693"/>
            <a:ext cx="100950" cy="1009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33272" y="234086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yang mengelola server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22376" y="2834640"/>
            <a:ext cx="219456" cy="219456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29" y="2893893"/>
            <a:ext cx="100950" cy="1009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33272" y="279806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bawaan siap pakai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22376" y="3291840"/>
            <a:ext cx="219456" cy="219456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29" y="3351093"/>
            <a:ext cx="100950" cy="1009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33272" y="325526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Pembaruan otomatis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22376" y="3749040"/>
            <a:ext cx="219456" cy="219456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29" y="3808293"/>
            <a:ext cx="100950" cy="1009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33272" y="371246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 hari kerja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246120" y="1325880"/>
            <a:ext cx="2651760" cy="3035808"/>
          </a:xfrm>
          <a:prstGeom prst="rect">
            <a:avLst/>
          </a:prstGeom>
          <a:solidFill>
            <a:srgbClr val="1B4F63"/>
          </a:solidFill>
          <a:ln w="9525">
            <a:solidFill>
              <a:srgbClr val="1B4F6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246120" y="1325880"/>
            <a:ext cx="2651760" cy="54864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3" name="Shape 17"/>
          <p:cNvSpPr/>
          <p:nvPr/>
        </p:nvSpPr>
        <p:spPr>
          <a:xfrm>
            <a:off x="4873752" y="1572768"/>
            <a:ext cx="868680" cy="25603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24" name="Text 18"/>
          <p:cNvSpPr/>
          <p:nvPr/>
        </p:nvSpPr>
        <p:spPr>
          <a:xfrm>
            <a:off x="4873752" y="15727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B1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POPULER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3465576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On-Premise License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3465576" y="188366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rumah sakit dan grup klinik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465576" y="2377440"/>
            <a:ext cx="219456" cy="219456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829" y="2436693"/>
            <a:ext cx="100950" cy="10095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76472" y="234086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Dipasang di server Anda sendiri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465576" y="2834640"/>
            <a:ext cx="219456" cy="219456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829" y="2893893"/>
            <a:ext cx="100950" cy="1009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76472" y="279806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 model AI lokal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3465576" y="3291840"/>
            <a:ext cx="219456" cy="219456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829" y="3351093"/>
            <a:ext cx="100950" cy="10095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776472" y="325526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 &amp; penyimpanan pilihan Anda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3465576" y="3749040"/>
            <a:ext cx="219456" cy="219456"/>
          </a:xfrm>
          <a:prstGeom prst="ellipse">
            <a:avLst/>
          </a:prstGeom>
          <a:solidFill>
            <a:srgbClr val="C9A86A"/>
          </a:solidFill>
          <a:ln/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829" y="3808293"/>
            <a:ext cx="100950" cy="10095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3776472" y="371246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Pendampingan instalasi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5989320" y="1325880"/>
            <a:ext cx="2651760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5989320" y="1325880"/>
            <a:ext cx="2651760" cy="54864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1" name="Text 31"/>
          <p:cNvSpPr/>
          <p:nvPr/>
        </p:nvSpPr>
        <p:spPr>
          <a:xfrm>
            <a:off x="6208776" y="157276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Custom</a:t>
            </a:r>
            <a:endParaRPr lang="en-US" sz="1500" dirty="0"/>
          </a:p>
        </p:txBody>
      </p:sp>
      <p:sp>
        <p:nvSpPr>
          <p:cNvPr id="42" name="Text 32"/>
          <p:cNvSpPr/>
          <p:nvPr/>
        </p:nvSpPr>
        <p:spPr>
          <a:xfrm>
            <a:off x="6208776" y="188366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2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korporat dan asuransi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6208776" y="2377440"/>
            <a:ext cx="219456" cy="219456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029" y="2436693"/>
            <a:ext cx="100950" cy="10095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519672" y="234086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SIMRS &amp; sistem internal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6208776" y="2834640"/>
            <a:ext cx="219456" cy="219456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029" y="2893893"/>
            <a:ext cx="100950" cy="10095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6519672" y="279806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dan alur khusus</a:t>
            </a:r>
            <a:endParaRPr lang="en-US" sz="1000" dirty="0"/>
          </a:p>
        </p:txBody>
      </p:sp>
      <p:sp>
        <p:nvSpPr>
          <p:cNvPr id="49" name="Shape 37"/>
          <p:cNvSpPr/>
          <p:nvPr/>
        </p:nvSpPr>
        <p:spPr>
          <a:xfrm>
            <a:off x="6208776" y="3291840"/>
            <a:ext cx="219456" cy="219456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029" y="3351093"/>
            <a:ext cx="100950" cy="100950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6519672" y="325526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Kesepakatan tingkat layanan (SLA)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6208776" y="3749040"/>
            <a:ext cx="219456" cy="219456"/>
          </a:xfrm>
          <a:prstGeom prst="ellipse">
            <a:avLst/>
          </a:prstGeom>
          <a:solidFill>
            <a:srgbClr val="1B4F63"/>
          </a:solidFill>
          <a:ln/>
        </p:spPr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029" y="3808293"/>
            <a:ext cx="100950" cy="10095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6519672" y="371246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tim menyeluruh</a:t>
            </a:r>
            <a:endParaRPr lang="en-US" sz="1000" dirty="0"/>
          </a:p>
        </p:txBody>
      </p:sp>
      <p:sp>
        <p:nvSpPr>
          <p:cNvPr id="55" name="Text 41"/>
          <p:cNvSpPr/>
          <p:nvPr/>
        </p:nvSpPr>
        <p:spPr>
          <a:xfrm>
            <a:off x="502920" y="44805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investasi menyesuaikan jumlah pengguna, kebutuhan integrasi, dan tingkat dukungan.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822960"/>
            <a:ext cx="4206240" cy="4206240"/>
          </a:xfrm>
          <a:prstGeom prst="ellipse">
            <a:avLst/>
          </a:prstGeom>
          <a:solidFill>
            <a:srgbClr val="0B1D2A"/>
          </a:solidFill>
          <a:ln w="9525">
            <a:solidFill>
              <a:srgbClr val="C9A8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-45720"/>
            <a:ext cx="2651760" cy="2651760"/>
          </a:xfrm>
          <a:prstGeom prst="ellipse">
            <a:avLst/>
          </a:prstGeom>
          <a:solidFill>
            <a:srgbClr val="1B4F6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3200400"/>
            <a:ext cx="2011680" cy="2011680"/>
          </a:xfrm>
          <a:prstGeom prst="ellipse">
            <a:avLst/>
          </a:prstGeom>
          <a:solidFill>
            <a:srgbClr val="2F7D73">
              <a:alpha val="45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960120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15568"/>
            <a:ext cx="50292" cy="237744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MULAI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Siap menghadirkan layanan</a:t>
            </a:r>
            <a:endParaRPr lang="en-US" sz="27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kesehatan digital Anda sendiri?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285292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dapat menyiapkan demo dengan data dan identitas visual institusi Anda, lalu memandu proses penerapannya dari awal hingga tayang.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675888"/>
            <a:ext cx="4846320" cy="786384"/>
          </a:xfrm>
          <a:prstGeom prst="rect">
            <a:avLst/>
          </a:prstGeom>
          <a:solidFill>
            <a:srgbClr val="132B3D"/>
          </a:solidFill>
          <a:ln w="9525">
            <a:solidFill>
              <a:srgbClr val="2743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3675888"/>
            <a:ext cx="50292" cy="786384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" y="37856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GraviCode Studios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8952" y="40599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company@</a:t>
            </a:r>
            <a:r>
              <a:rPr lang="en-US" sz="1100" err="1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gravicode</a:t>
            </a:r>
            <a:r>
              <a:rPr lang="en-US" sz="1100">
                <a:solidFill>
                  <a:srgbClr val="C9A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47183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VirtualDoctor · GraviCode Studios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1391</Words>
  <Application>Microsoft Office PowerPoint</Application>
  <PresentationFormat>On-screen Show (16:9)</PresentationFormat>
  <Paragraphs>305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GraviCode Studios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VirtualDoctor - Platform Kesehatan Digital</dc:title>
  <dc:subject>Company &amp; Product Deck</dc:subject>
  <dc:creator>GraviCode Studios</dc:creator>
  <cp:lastModifiedBy>Mif Masterz</cp:lastModifiedBy>
  <cp:revision>2</cp:revision>
  <dcterms:created xsi:type="dcterms:W3CDTF">2026-07-27T21:48:15Z</dcterms:created>
  <dcterms:modified xsi:type="dcterms:W3CDTF">2026-07-27T21:52:40Z</dcterms:modified>
</cp:coreProperties>
</file>